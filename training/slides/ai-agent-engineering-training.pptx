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1981cbc67e41c1" /><Relationship Type="http://schemas.openxmlformats.org/officeDocument/2006/relationships/extended-properties" Target="/docProps/app.xml" Id="R99b69842a7954f96" /><Relationship Type="http://schemas.openxmlformats.org/officeDocument/2006/relationships/officeDocument" Target="/ppt/presentation.xml" Id="Rcc5f61ddab6e45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b44344a1084a72"/>
  </p:sldMasterIdLst>
  <p:notesMasterIdLst>
    <p:notesMasterId xmlns:r="http://schemas.openxmlformats.org/officeDocument/2006/relationships" r:id="R1f8b09ddbdd24ff6"/>
  </p:notesMasterIdLst>
  <p:sldIdLst>
    <p:sldId xmlns:r="http://schemas.openxmlformats.org/officeDocument/2006/relationships" id="256" r:id="Raa2c1fc89ad44556"/>
    <p:sldId xmlns:r="http://schemas.openxmlformats.org/officeDocument/2006/relationships" id="257" r:id="R996fee3e9c494e0c"/>
    <p:sldId xmlns:r="http://schemas.openxmlformats.org/officeDocument/2006/relationships" id="258" r:id="R306e904b31414cad"/>
    <p:sldId xmlns:r="http://schemas.openxmlformats.org/officeDocument/2006/relationships" id="259" r:id="R93ec2098704b4f21"/>
    <p:sldId xmlns:r="http://schemas.openxmlformats.org/officeDocument/2006/relationships" id="260" r:id="R4b0d6238af534ae2"/>
    <p:sldId xmlns:r="http://schemas.openxmlformats.org/officeDocument/2006/relationships" id="261" r:id="Reaa476fd8ba542ec"/>
    <p:sldId xmlns:r="http://schemas.openxmlformats.org/officeDocument/2006/relationships" id="262" r:id="R2040e8dc71964aca"/>
    <p:sldId xmlns:r="http://schemas.openxmlformats.org/officeDocument/2006/relationships" id="263" r:id="Raaece47facac49a9"/>
    <p:sldId xmlns:r="http://schemas.openxmlformats.org/officeDocument/2006/relationships" id="264" r:id="Rf2f0eb7ea8054e4c"/>
    <p:sldId xmlns:r="http://schemas.openxmlformats.org/officeDocument/2006/relationships" id="265" r:id="R0a8f6440267f4b05"/>
    <p:sldId xmlns:r="http://schemas.openxmlformats.org/officeDocument/2006/relationships" id="266" r:id="R5bf846d4b6ea4db1"/>
    <p:sldId xmlns:r="http://schemas.openxmlformats.org/officeDocument/2006/relationships" id="267" r:id="Rf17fb6cc475a4cb9"/>
    <p:sldId xmlns:r="http://schemas.openxmlformats.org/officeDocument/2006/relationships" id="268" r:id="R33c163bfc8984f7f"/>
    <p:sldId xmlns:r="http://schemas.openxmlformats.org/officeDocument/2006/relationships" id="269" r:id="R67f39af8327348d0"/>
    <p:sldId xmlns:r="http://schemas.openxmlformats.org/officeDocument/2006/relationships" id="270" r:id="R2a188ca6f81f4a0a"/>
    <p:sldId xmlns:r="http://schemas.openxmlformats.org/officeDocument/2006/relationships" id="271" r:id="R0867cced1d9b43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6d7d19af8a4ebc" /><Relationship Type="http://schemas.openxmlformats.org/officeDocument/2006/relationships/slideMaster" Target="/ppt/slideMasters/slideMaster1.xml" Id="R81b44344a1084a72" /><Relationship Type="http://schemas.openxmlformats.org/officeDocument/2006/relationships/notesMaster" Target="/ppt/notesMasters/notesMaster1.xml" Id="R1f8b09ddbdd24ff6" /><Relationship Type="http://schemas.openxmlformats.org/officeDocument/2006/relationships/presProps" Target="/ppt/presProps.xml" Id="R506170a556484937" /><Relationship Type="http://schemas.openxmlformats.org/officeDocument/2006/relationships/tableStyles" Target="/ppt/tableStyles.xml" Id="R931aa5a8d71d4e82" /><Relationship Type="http://schemas.openxmlformats.org/officeDocument/2006/relationships/slide" Target="/ppt/slides/slide1.xml" Id="Raa2c1fc89ad44556" /><Relationship Type="http://schemas.openxmlformats.org/officeDocument/2006/relationships/slide" Target="/ppt/slides/slide2.xml" Id="R996fee3e9c494e0c" /><Relationship Type="http://schemas.openxmlformats.org/officeDocument/2006/relationships/slide" Target="/ppt/slides/slide3.xml" Id="R306e904b31414cad" /><Relationship Type="http://schemas.openxmlformats.org/officeDocument/2006/relationships/slide" Target="/ppt/slides/slide4.xml" Id="R93ec2098704b4f21" /><Relationship Type="http://schemas.openxmlformats.org/officeDocument/2006/relationships/slide" Target="/ppt/slides/slide5.xml" Id="R4b0d6238af534ae2" /><Relationship Type="http://schemas.openxmlformats.org/officeDocument/2006/relationships/slide" Target="/ppt/slides/slide6.xml" Id="Reaa476fd8ba542ec" /><Relationship Type="http://schemas.openxmlformats.org/officeDocument/2006/relationships/slide" Target="/ppt/slides/slide7.xml" Id="R2040e8dc71964aca" /><Relationship Type="http://schemas.openxmlformats.org/officeDocument/2006/relationships/slide" Target="/ppt/slides/slide8.xml" Id="Raaece47facac49a9" /><Relationship Type="http://schemas.openxmlformats.org/officeDocument/2006/relationships/slide" Target="/ppt/slides/slide9.xml" Id="Rf2f0eb7ea8054e4c" /><Relationship Type="http://schemas.openxmlformats.org/officeDocument/2006/relationships/slide" Target="/ppt/slides/slide10.xml" Id="R0a8f6440267f4b05" /><Relationship Type="http://schemas.openxmlformats.org/officeDocument/2006/relationships/slide" Target="/ppt/slides/slide11.xml" Id="R5bf846d4b6ea4db1" /><Relationship Type="http://schemas.openxmlformats.org/officeDocument/2006/relationships/slide" Target="/ppt/slides/slide12.xml" Id="Rf17fb6cc475a4cb9" /><Relationship Type="http://schemas.openxmlformats.org/officeDocument/2006/relationships/slide" Target="/ppt/slides/slide13.xml" Id="R33c163bfc8984f7f" /><Relationship Type="http://schemas.openxmlformats.org/officeDocument/2006/relationships/slide" Target="/ppt/slides/slide14.xml" Id="R67f39af8327348d0" /><Relationship Type="http://schemas.openxmlformats.org/officeDocument/2006/relationships/slide" Target="/ppt/slides/slide15.xml" Id="R2a188ca6f81f4a0a" /><Relationship Type="http://schemas.openxmlformats.org/officeDocument/2006/relationships/slide" Target="/ppt/slides/slide16.xml" Id="R0867cced1d9b43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dfa54fb96248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ae77e8bb1a40d2" /><Relationship Type="http://schemas.openxmlformats.org/officeDocument/2006/relationships/notesMaster" Target="/ppt/notesMasters/notesMaster1.xml" Id="R23b1c7726b6641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26abec958e4d12" /><Relationship Type="http://schemas.openxmlformats.org/officeDocument/2006/relationships/notesMaster" Target="/ppt/notesMasters/notesMaster1.xml" Id="R064a83b569e143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928e85650c4923" /><Relationship Type="http://schemas.openxmlformats.org/officeDocument/2006/relationships/notesMaster" Target="/ppt/notesMasters/notesMaster1.xml" Id="R5d89ccc86e6246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563ecee11d4545" /><Relationship Type="http://schemas.openxmlformats.org/officeDocument/2006/relationships/notesMaster" Target="/ppt/notesMasters/notesMaster1.xml" Id="Rfdba4a9a91ab41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4454c363244803" /><Relationship Type="http://schemas.openxmlformats.org/officeDocument/2006/relationships/notesMaster" Target="/ppt/notesMasters/notesMaster1.xml" Id="Re5353f80e19d48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ba51aec25546cd" /><Relationship Type="http://schemas.openxmlformats.org/officeDocument/2006/relationships/notesMaster" Target="/ppt/notesMasters/notesMaster1.xml" Id="Rab16fe10f73f4e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666a7315aa4f58" /><Relationship Type="http://schemas.openxmlformats.org/officeDocument/2006/relationships/notesMaster" Target="/ppt/notesMasters/notesMaster1.xml" Id="Rb7636a613a4b48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1a9425ab2e4f1c" /><Relationship Type="http://schemas.openxmlformats.org/officeDocument/2006/relationships/notesMaster" Target="/ppt/notesMasters/notesMaster1.xml" Id="R31b58044e69c41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b213c0728044c1" /><Relationship Type="http://schemas.openxmlformats.org/officeDocument/2006/relationships/notesMaster" Target="/ppt/notesMasters/notesMaster1.xml" Id="Rf3877a68d5c34a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1c286933694873" /><Relationship Type="http://schemas.openxmlformats.org/officeDocument/2006/relationships/notesMaster" Target="/ppt/notesMasters/notesMaster1.xml" Id="Rad1dec0b4cda44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371d3f690a4ede" /><Relationship Type="http://schemas.openxmlformats.org/officeDocument/2006/relationships/notesMaster" Target="/ppt/notesMasters/notesMaster1.xml" Id="R369f53813c914d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bdf5765ec644a5" /><Relationship Type="http://schemas.openxmlformats.org/officeDocument/2006/relationships/notesMaster" Target="/ppt/notesMasters/notesMaster1.xml" Id="R117d31c4ed584f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53ab3f03d345ab" /><Relationship Type="http://schemas.openxmlformats.org/officeDocument/2006/relationships/notesMaster" Target="/ppt/notesMasters/notesMaster1.xml" Id="Rb698edb86cae42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1a1cc4ed3e4180" /><Relationship Type="http://schemas.openxmlformats.org/officeDocument/2006/relationships/notesMaster" Target="/ppt/notesMasters/notesMaster1.xml" Id="R2ad98d3b39d143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d40ba88468e4003" /><Relationship Type="http://schemas.openxmlformats.org/officeDocument/2006/relationships/notesMaster" Target="/ppt/notesMasters/notesMaster1.xml" Id="Re10e7461e60642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52c34efc604673" /><Relationship Type="http://schemas.openxmlformats.org/officeDocument/2006/relationships/notesMaster" Target="/ppt/notesMasters/notesMaster1.xml" Id="Rde41c02bbb424e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开场先问：一次成功演示与一个可运营系统之间，还缺哪些工程能力？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docs/training/instructor-guide.md</a:t>
            </a:r>
          </a:p>
          <a:p xmlns:a="http://schemas.openxmlformats.org/drawingml/2006/main">
            <a:r>
              <a:t>- docs/part-07-advanced/ch37-demo-to-product.md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用左右对照明确模型能力与工程能力，避免把产品、框架和模型混为一谈。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docs/part-01-foundations/ch01-what-is-llm.md</a:t>
            </a:r>
          </a:p>
          <a:p xmlns:a="http://schemas.openxmlformats.org/drawingml/2006/main">
            <a:r>
              <a:t>- docs/part-02-agent-core/ch09-agent-runtime.md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让学员把自己现有系统组件贴到三层中，找出责任漂移。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docs/part-07-advanced/ch36-architecture.md</a:t>
            </a:r>
          </a:p>
          <a:p xmlns:a="http://schemas.openxmlformats.org/drawingml/2006/main">
            <a:r>
              <a:t>- docs/part-07-advanced/ch38-selection-guide.md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强调先原理、再机制、后框架；每阶段都要有运行证据。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docs/learning-guide.md</a:t>
            </a:r>
          </a:p>
          <a:p xmlns:a="http://schemas.openxmlformats.org/drawingml/2006/main">
            <a:r>
              <a:t>- docs/training/student-lab-manual.md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让学员指出四类信息各自的所有者、生命周期和失败后果。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docs/part-01-foundations/ch02-token-and-context.md</a:t>
            </a:r>
          </a:p>
          <a:p xmlns:a="http://schemas.openxmlformats.org/drawingml/2006/main">
            <a:r>
              <a:t>- docs/part-02-agent-core/ch06-prompt-engineering.md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演示时必须同时运行成功、参数错误、超时和未审批写操作。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docs/part-02-agent-core/ch08-tool-calling.md</a:t>
            </a:r>
          </a:p>
          <a:p xmlns:a="http://schemas.openxmlformats.org/drawingml/2006/main">
            <a:r>
              <a:t>- docs/training/student-lab-manual.md#核心实验清单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要求学员为一个写工具分别写出三道门禁的测试证据。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docs/part-05-engineering/ch30-security.md</a:t>
            </a:r>
          </a:p>
          <a:p xmlns:a="http://schemas.openxmlformats.org/drawingml/2006/main">
            <a:r>
              <a:t>- docs/part-02-agent-core/ch08-tool-calling.md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调试顺序必须从数据与检索开始，禁止把调 Prompt 作为第一反应。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docs/part-03-rag-and-memory/ch13-rag.md</a:t>
            </a:r>
          </a:p>
          <a:p xmlns:a="http://schemas.openxmlformats.org/drawingml/2006/main">
            <a:r>
              <a:t>- docs/part-03-rag-and-memory/ch14-advanced-rag.md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让学员判断五类数据应进入上下文、RAG、Memory 还是普通数据库。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docs/part-03-rag-and-memory/ch13-rag.md</a:t>
            </a:r>
          </a:p>
          <a:p xmlns:a="http://schemas.openxmlformats.org/drawingml/2006/main">
            <a:r>
              <a:t>- docs/part-03-rag-and-memory/ch15-memory.md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要求每组写出一个不用框架的基线，才能判断抽象是否产生净收益。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docs/part-07-advanced/ch38-selection-guide.md</a:t>
            </a:r>
          </a:p>
          <a:p xmlns:a="http://schemas.openxmlformats.org/drawingml/2006/main">
            <a:r>
              <a:t>- docs/part-04-frameworks/ch17-native-api.md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此页不使用虚构百分比；三个词代表证据类别，而非完成率。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docs/part-05-engineering/ch28-observability.md</a:t>
            </a:r>
          </a:p>
          <a:p xmlns:a="http://schemas.openxmlformats.org/drawingml/2006/main">
            <a:r>
              <a:t>- docs/part-05-engineering/ch29-evaluation.md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外部网页、邮件和文档都是不可信数据，不能授予权限或改变系统规则。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docs/part-05-engineering/ch30-security.md</a:t>
            </a:r>
          </a:p>
          <a:p xmlns:a="http://schemas.openxmlformats.org/drawingml/2006/main">
            <a:r>
              <a:t>- training/fixtures/security_cases.jsonl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让学员解释单一总分为什么无法定位回归来源。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docs/part-05-engineering/ch29-evaluation.md</a:t>
            </a:r>
          </a:p>
          <a:p xmlns:a="http://schemas.openxmlformats.org/drawingml/2006/main">
            <a:r>
              <a:t>- docs/training/assessment-rubric.md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路线不同，但每周都要提交编码产出和可观察检查证据。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docs/learning-guide.md</a:t>
            </a:r>
          </a:p>
          <a:p xmlns:a="http://schemas.openxmlformats.org/drawingml/2006/main">
            <a:r>
              <a:t>- docs/training/instructor-guide.md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 12 个核心实验和综合项目一票整改项。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docs/training/student-lab-manual.md</a:t>
            </a:r>
          </a:p>
          <a:p xmlns:a="http://schemas.openxmlformats.org/drawingml/2006/main">
            <a:r>
              <a:t>- docs/training/assessment-rubric.md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结束时让每位学员明确下一项实验、提交时间和验收人。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docs/training/student-lab-manual.md</a:t>
            </a:r>
          </a:p>
          <a:p xmlns:a="http://schemas.openxmlformats.org/drawingml/2006/main">
            <a:r>
              <a:t>- docs/training/assessment-rubric.md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ec11c4704641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a9c032b23f4799" /><Relationship Type="http://schemas.openxmlformats.org/officeDocument/2006/relationships/slideLayout" Target="/ppt/slideLayouts/slideLayout1.xml" Id="Rd779ab9665cc49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79ab9665cc49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4257aeed64770" /><Relationship Type="http://schemas.openxmlformats.org/officeDocument/2006/relationships/notesSlide" Target="/ppt/notesSlides/notesSlide1.xml" Id="R58db1670eeff45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95e6d16b74434" /><Relationship Type="http://schemas.openxmlformats.org/officeDocument/2006/relationships/notesSlide" Target="/ppt/notesSlides/notesSlide2.xml" Id="R761eb0aa56074f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94782794840c4" /><Relationship Type="http://schemas.openxmlformats.org/officeDocument/2006/relationships/notesSlide" Target="/ppt/notesSlides/notesSlide3.xml" Id="Rdb336b46f36544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ab9f598dd4c54" /><Relationship Type="http://schemas.openxmlformats.org/officeDocument/2006/relationships/notesSlide" Target="/ppt/notesSlides/notesSlide4.xml" Id="Rf7c49b075d1248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309759b174013" /><Relationship Type="http://schemas.openxmlformats.org/officeDocument/2006/relationships/notesSlide" Target="/ppt/notesSlides/notesSlide5.xml" Id="R8826e99a58534c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de3f687464103" /><Relationship Type="http://schemas.openxmlformats.org/officeDocument/2006/relationships/notesSlide" Target="/ppt/notesSlides/notesSlide6.xml" Id="Rcb7c2963f9bb43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a881bc5544cf2" /><Relationship Type="http://schemas.openxmlformats.org/officeDocument/2006/relationships/notesSlide" Target="/ppt/notesSlides/notesSlide7.xml" Id="Rcfd2eea5a4344d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5dbe6739b4915" /><Relationship Type="http://schemas.openxmlformats.org/officeDocument/2006/relationships/notesSlide" Target="/ppt/notesSlides/notesSlide8.xml" Id="R44204a1689bc46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1c600e11e4b9e" /><Relationship Type="http://schemas.openxmlformats.org/officeDocument/2006/relationships/notesSlide" Target="/ppt/notesSlides/notesSlide9.xml" Id="R28ee7034e7464d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5d6780e6347d8" /><Relationship Type="http://schemas.openxmlformats.org/officeDocument/2006/relationships/notesSlide" Target="/ppt/notesSlides/notesSlide10.xml" Id="Ra9c510bd53a94a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d352b7606486d" /><Relationship Type="http://schemas.openxmlformats.org/officeDocument/2006/relationships/notesSlide" Target="/ppt/notesSlides/notesSlide11.xml" Id="Rbd5df9c4734c43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906dbcacc4501" /><Relationship Type="http://schemas.openxmlformats.org/officeDocument/2006/relationships/notesSlide" Target="/ppt/notesSlides/notesSlide12.xml" Id="R0268bb2d740d4a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a461d74a7407d" /><Relationship Type="http://schemas.openxmlformats.org/officeDocument/2006/relationships/notesSlide" Target="/ppt/notesSlides/notesSlide13.xml" Id="R109eee187c2743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a50db0b8943a0" /><Relationship Type="http://schemas.openxmlformats.org/officeDocument/2006/relationships/notesSlide" Target="/ppt/notesSlides/notesSlide14.xml" Id="Rddfe9f99ff2447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cefb1a7f144ec" /><Relationship Type="http://schemas.openxmlformats.org/officeDocument/2006/relationships/notesSlide" Target="/ppt/notesSlides/notesSlide15.xml" Id="Ree7be5b6456342f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6f04bc81a4ef5" /><Relationship Type="http://schemas.openxmlformats.org/officeDocument/2006/relationships/notesSlide" Target="/ppt/notesSlides/notesSlide16.xml" Id="R11731c918db0436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063B5125-D7E5-46E2-AD68-B3996C0B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60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从模型能力
到可靠系统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4192637-2527-4F97-8734-BD0A396D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原理、工程、评估与项目实践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7DDBFC71-69C0-4D56-9B9E-21272490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AI AGENT 工程课程</a:t>
            </a:r>
          </a:p>
        </p:txBody>
      </p:sp>
    </p:spTree>
    <p:extLst>
      <p:ext uri="{BB962C8B-B14F-4D97-AF65-F5344CB8AC3E}">
        <p14:creationId xmlns:p14="http://schemas.microsoft.com/office/powerpoint/2010/main" val="14601597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9F86D16-5D5F-467F-9726-48675B8D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2229859-A4C6-4131-A330-429C9134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Agent 的价值不在“更会聊天”，而在受控地完成任务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0370559E-A6C3-45A6-8F30-0756CFE6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模型提供概率能力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生成、理解、抽取与推理都存在不确定性；上下文不是数据库，也不是长期记忆。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29D95D6D-7FBA-432F-A1BB-394126C7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系统提供可靠边界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Runtime 管理工具、状态、权限、预算、终止、恢复与审计，才形成可交付能力。</a:t>
            </a:r>
          </a:p>
        </p:txBody>
      </p:sp>
    </p:spTree>
    <p:extLst>
      <p:ext uri="{BB962C8B-B14F-4D97-AF65-F5344CB8AC3E}">
        <p14:creationId xmlns:p14="http://schemas.microsoft.com/office/powerpoint/2010/main" val="659920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F1FCB47-8CDE-472E-96D1-D7582204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0FE8485-DB1B-4624-B6FF-B2B5DF1F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先分清三层责任，再讨论框架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F4DFF753-D4F2-4E83-B0D5-6F896BA5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模型层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Token、上下文、采样、向量与结构输出。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E4D1DC0B-3CD0-418C-8BA1-2252A594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产品工程层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权限、评估、观测、成本、部署与用户体验。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E024DDA6-52F0-4C88-AE1A-C790D493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运行时层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工具循环、状态机、检查点、审批与终止。</a:t>
            </a:r>
          </a:p>
        </p:txBody>
      </p:sp>
    </p:spTree>
    <p:extLst>
      <p:ext uri="{BB962C8B-B14F-4D97-AF65-F5344CB8AC3E}">
        <p14:creationId xmlns:p14="http://schemas.microsoft.com/office/powerpoint/2010/main" val="10017382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77B0F46-896A-4FDC-9FFD-4C9B2FFE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9261"/>
            <a:ext cx="749237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0495475-B8BF-451F-B91C-D3574C84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学习顺序决定系统是否可控</a:t>
            </a:r>
          </a:p>
        </p:txBody>
      </p:sp>
      <p:cxnSp>
        <p:nvCxnSpPr>
          <p:cNvPr id="21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26BFA4A-F2E7-453D-BE83-D572FF03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7B59A9A-D446-4FD2-8AB2-1A3B35A4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86B23BD-2B99-4EC2-A886-1C55DB32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AEB34F0-C595-48E6-B19E-A6F1C8A8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第一阶段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73FB88C5-61AF-49EB-8D33-4BCEB90A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第二阶段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3783F89-E447-489F-817A-A9521A67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第三阶段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77740880-BB40-4FD2-9E3E-778D0063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构建受控运行时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结构、工具、状态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8D9B41C-277B-414A-8101-B84305E2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理解模型边界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Token、采样、向量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6964790F-39A6-475E-A4B5-D4C064F5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建立生产证据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测试、安全、观测</a:t>
            </a:r>
          </a:p>
        </p:txBody>
      </p:sp>
    </p:spTree>
    <p:extLst>
      <p:ext uri="{BB962C8B-B14F-4D97-AF65-F5344CB8AC3E}">
        <p14:creationId xmlns:p14="http://schemas.microsoft.com/office/powerpoint/2010/main" val="15209481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510A1E3F-7498-46C6-BCC3-22FB13F0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B7350E0-19E1-48FD-8AE2-611B135C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Context Engineering 管理进入决策的全部信息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7A5AFF1-E560-4918-9D23-11999C94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指令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优先级、角色、输出契约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BE681CA-A460-41F5-BC6B-5B9D0AFA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知识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检索结果、引用与版本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FFB24C1-66BC-4B3B-93F4-B2964A6C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状态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会话、任务、记忆与审批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995D00E-88CC-4A33-AD4C-42B4CE23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预算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长度、成本、延迟与截断</a:t>
            </a:r>
          </a:p>
        </p:txBody>
      </p:sp>
    </p:spTree>
    <p:extLst>
      <p:ext uri="{BB962C8B-B14F-4D97-AF65-F5344CB8AC3E}">
        <p14:creationId xmlns:p14="http://schemas.microsoft.com/office/powerpoint/2010/main" val="15150754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6B3E5BB-FC14-4846-B23B-8B6F335F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C4F87B3-38D2-434D-994D-65611F18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Tool Calling 是受控执行协议，不是模型直接运行代码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86262E35-7692-4528-982C-51A17B53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模型提出调用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A043832-C134-4853-B9F1-66972277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4CE47B32-2C0D-47B6-9D92-8D79D92D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Runtime 校验与授权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80C59DF-EB66-43D3-BE10-5B65019F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FBB95340-47D7-4E76-B172-124914B1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工具执行并返回观察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414A2B07-C4D9-4FEE-9A01-EE63F07B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F4DCEA6E-9EB9-429C-8D39-55773972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终止、重试或审批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1BF3CD39-8740-472E-B31A-A1BC6379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944C8E4E-B4E2-43B3-A37E-8628D167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Runtime 承担执行责任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校验参数、检查权限、执行工具、记录结果，并决定是否继续循环。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671877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274DF20-08C2-46C8-8BE9-B2D821F4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9261"/>
            <a:ext cx="749237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C00CF3E-7BD0-4805-935F-C3B66585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工具安全需要三道独立门禁</a:t>
            </a:r>
          </a:p>
        </p:txBody>
      </p:sp>
      <p:cxnSp>
        <p:nvCxnSpPr>
          <p:cNvPr id="24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43F77A7-A6B4-4DA2-A7F8-24ED346E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A2DCA4C-3C2C-44DC-B595-80D5F02C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28625A2-CCC4-4AB2-8043-BE0FEF1A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55B3C79C-5DBE-4EB4-9414-F01166EF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2E7E47DA-D0E4-4747-B66A-8D426E36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授权与参数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最小权限、Schema、Allowlist、人工确认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50B5BF51-7F4E-4103-810E-EBCD862F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3AC3CCB4-64A6-4527-8314-16B0368F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隔离与边界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超时、Sandbox、并发、幂等与取消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89052CDC-64A3-4FC7-B3BE-A8309995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10DA981B-4A64-40DB-AE25-77E8BB52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验证与审计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输出校验、脱敏、Trace、补偿与告警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5C741FFF-0FB8-47F9-9A79-70490F71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执行中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0F798D42-5B73-4C91-B6B3-D8ABE877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调用前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7BDE50AD-D392-4CDD-B3FD-9F6CFB48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执行后</a:t>
            </a:r>
          </a:p>
        </p:txBody>
      </p:sp>
    </p:spTree>
    <p:extLst>
      <p:ext uri="{BB962C8B-B14F-4D97-AF65-F5344CB8AC3E}">
        <p14:creationId xmlns:p14="http://schemas.microsoft.com/office/powerpoint/2010/main" val="56497683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14650EB-84CC-4AB1-B8F5-F05D8D42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0AC5066-29F5-44CC-9C74-45EC2784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RAG 质量由完整链路决定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843A31CE-AEC6-40FC-B45E-7D2268F3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数据版本与解析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473D46A-8903-4D2B-B5BE-B442B5F6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09B492C2-A7BB-4790-95A5-9A1229E0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召回、过滤与重排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DACEA3F-5AC4-4482-91D9-A42C2282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F852BDB8-7A80-4006-A741-E511E4B6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引用上下文与生成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DBCE2AFD-EB88-4C2C-9679-301F2295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0FDD76C1-298C-4A2F-8F89-B5198F43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黄金集与发布门禁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9F4CAA3B-037D-4EE6-88DE-0FC3D714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A64178B2-C329-439A-9C41-609156E5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检索命中不等于回答正确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数据质量、切分、过滤、重排、上下文组织、生成和引用映射都会失效。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292415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16E533A-FE33-489C-987E-498C9294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50D33A6-411F-44A9-9156-685462C9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RAG 与 Memory 可以共用技术，但服务不同语义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4FC2B5D-F517-478E-8D32-09C2F258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RAG：外部知识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面向文档、规范和事实；重点是版本、权限、召回、引用与删除。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2415A42C-A5C3-4E60-B965-625E9DBC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Memory：主体经历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面向会话、偏好与事件；重点是写入资格、遗忘、隐私和用户控制。</a:t>
            </a:r>
          </a:p>
        </p:txBody>
      </p:sp>
    </p:spTree>
    <p:extLst>
      <p:ext uri="{BB962C8B-B14F-4D97-AF65-F5344CB8AC3E}">
        <p14:creationId xmlns:p14="http://schemas.microsoft.com/office/powerpoint/2010/main" val="10214619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03EE592-CEDD-471F-AB7B-0AB122BA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F692811-72AD-4ED8-A046-DD2F492A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框架选型从控制需求开始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A12FE3D6-6F2A-40EF-8FDE-17FD8747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原生接口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透明可控；适合学习机制。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F0CFDF31-9A37-4958-B888-8D04C2E8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图式工作流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适合持久状态与复杂路由。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A890E8CE-914E-4711-AEE5-19E1997C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类型化运行时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适合工具、输出与服务边界。</a:t>
            </a:r>
          </a:p>
        </p:txBody>
      </p:sp>
    </p:spTree>
    <p:extLst>
      <p:ext uri="{BB962C8B-B14F-4D97-AF65-F5344CB8AC3E}">
        <p14:creationId xmlns:p14="http://schemas.microsoft.com/office/powerpoint/2010/main" val="118298915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2D53AAD5-FC39-4FF0-A6A5-A714971D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8E4D1A0E-AE1F-4349-AE66-274F72D1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71971610-A843-498B-A230-82638EE5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2AACC1A5-D7CB-4CDC-8A0E-EBCDCF58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3A536EA2-97B5-4B9F-95B0-0F6B5B06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生产就绪必须由证据证明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C6E6717-FF07-471A-9241-F16BFD94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成功、边界、攻击与回归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2C0292E-53D8-4D84-9EC1-15C40836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重试、幂等、DLQ 与回滚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714001D1-8549-4391-B2A1-5BF424F2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状态、工具、检索与成本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9161829D-A363-4794-98D3-AE085DFE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测试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EC1208A3-7363-4862-810D-A2ACB1C6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Trace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A65FF1E-0B90-4E26-BC1A-C21AC01D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恢复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241A9D4-ACA3-432B-846E-D1A07354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三个不可替代的证据面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功能演示只能说明某次成功；测试、观测和恢复共同说明系统可运营。</a:t>
            </a:r>
          </a:p>
        </p:txBody>
      </p:sp>
    </p:spTree>
    <p:extLst>
      <p:ext uri="{BB962C8B-B14F-4D97-AF65-F5344CB8AC3E}">
        <p14:creationId xmlns:p14="http://schemas.microsoft.com/office/powerpoint/2010/main" val="111506596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3E04D77-B077-4DB0-82B9-4E8AC0B9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9261"/>
            <a:ext cx="749237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E47745FA-04CC-4255-BF5A-895B8A1C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Prompt Injection 是权限问题，不只是文本问题</a:t>
            </a:r>
          </a:p>
        </p:txBody>
      </p:sp>
      <p:cxnSp>
        <p:nvCxnSpPr>
          <p:cNvPr id="24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EE6236E-19AD-4520-9C5C-57339DFF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BDB26D5-2B62-44F0-A5B3-9A4DF148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9BFD32D2-09DF-4357-820C-D3B5DD2C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4CED90AD-E929-40D0-88B2-B3B5D2E4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B56BF044-64D3-4FA5-BB96-49A744D6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缩小能力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最小权限、来源隔离、数据/指令分离、审批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81CAB4A1-1D0A-42B6-8624-70F476AE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BE74D4B7-35C4-4795-BFB9-82C59156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发现异常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攻击 Fixture、工具偏差、外传信号、审计告警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873AC0B6-08A6-492F-BC5A-10D4443B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390FF780-ADCA-4E7B-BFAE-EFD5C5A2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限制影响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撤销凭证、停止任务、补偿副作用、事件复盘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0081D1A6-EF97-480B-8B9A-740E59E6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检测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AE78051C-D38F-47F6-B0CD-D7338786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预防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03D92824-A64A-4638-83BB-B3EFBE33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恢复</a:t>
            </a:r>
          </a:p>
        </p:txBody>
      </p:sp>
    </p:spTree>
    <p:extLst>
      <p:ext uri="{BB962C8B-B14F-4D97-AF65-F5344CB8AC3E}">
        <p14:creationId xmlns:p14="http://schemas.microsoft.com/office/powerpoint/2010/main" val="188138621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471B709D-01F2-46B9-A14E-6625863F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507C99C4-8AF0-4342-9BA8-D228C193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Evaluation 要覆盖任务、工具、检索与事实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8C289193-37DA-4F7B-BAAE-816EDF65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任务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Task Success 与业务验收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A499426-9E97-4D81-B8B0-A0DC6777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工具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选择、参数、权限与副作用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020D031-269E-4CEF-A923-FE394465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检索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Recall、MRR、过滤与引用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6E50281-CA93-4BA7-923E-DFECE080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生成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Faithfulness、拒答与人工复核</a:t>
            </a:r>
          </a:p>
        </p:txBody>
      </p:sp>
    </p:spTree>
    <p:extLst>
      <p:ext uri="{BB962C8B-B14F-4D97-AF65-F5344CB8AC3E}">
        <p14:creationId xmlns:p14="http://schemas.microsoft.com/office/powerpoint/2010/main" val="129033522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C617242-C91E-41E4-91D2-88582357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79261"/>
            <a:ext cx="749237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buNone/>
              <a:def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B0453E4-93F2-4D22-9D74-7B6C0336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三条学习路线共享同一验收逻辑</a:t>
            </a:r>
          </a:p>
        </p:txBody>
      </p:sp>
      <p:cxnSp>
        <p:nvCxnSpPr>
          <p:cNvPr id="21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B5DB14E5-4518-4957-A52B-4141B618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CB6875D-22A6-4E05-9C1D-E13DD8D6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178B1C9-6BCB-44F1-85DE-35B55907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8C641864-6972-47C4-8CFD-03BD78E9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8 周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C78E9E4-B6CA-4278-BDA1-1460A64C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12 周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883E5E2-6C20-4E9A-9EF9-F5D4A231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6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24 周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94D65272-19C3-411A-A835-11029394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系统学习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完成 RAG 工作流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224A9575-D3EB-4C39-BE90-794DF83C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快速入门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完成两个项目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49FE9FD0-2CA0-49FF-A636-EB8BD139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深入进阶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完成生产参考项目</a:t>
            </a:r>
          </a:p>
        </p:txBody>
      </p:sp>
    </p:spTree>
    <p:extLst>
      <p:ext uri="{BB962C8B-B14F-4D97-AF65-F5344CB8AC3E}">
        <p14:creationId xmlns:p14="http://schemas.microsoft.com/office/powerpoint/2010/main" val="40990010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F01BD8B0-ACE6-4781-9F60-2C581EE7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0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FC98D537-AA13-4856-8DF7-EA0DC20E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9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实验提交必须形成可复核证据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C8537B2-3D37-49F9-BD6F-7ACD9E7A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可运行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源码、配置与固定环境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D02FEBC-6B27-47C7-90A6-9086615C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可测试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成功、失败和边界用例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5FCCA46-F000-44A1-9212-4F1FDC55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可解释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ADR、替代方案和未验证假设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9A0E462-7841-4932-8688-7E4BD5C3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可审计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脱敏 Trace、指标和安全检查</a:t>
            </a:r>
          </a:p>
        </p:txBody>
      </p:sp>
    </p:spTree>
    <p:extLst>
      <p:ext uri="{BB962C8B-B14F-4D97-AF65-F5344CB8AC3E}">
        <p14:creationId xmlns:p14="http://schemas.microsoft.com/office/powerpoint/2010/main" val="197215801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08E6B377-1BE8-48F5-9B95-433F00A0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60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用证据交付
一个可靠 Agent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7C2504D-A31C-4DC8-8AEA-43D4C1C9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运行一个实验
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解释一次失败
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完成一次复盘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AEDE712-AE9D-40AD-A647-E05F46FB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240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结课行动</a:t>
            </a:r>
          </a:p>
        </p:txBody>
      </p:sp>
    </p:spTree>
    <p:extLst>
      <p:ext uri="{BB962C8B-B14F-4D97-AF65-F5344CB8AC3E}">
        <p14:creationId xmlns:p14="http://schemas.microsoft.com/office/powerpoint/2010/main" val="1050918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2026-08-08T07:50:00.4730000Z</dcterms:created>
  <dcterms:modified xsi:type="dcterms:W3CDTF">2026-08-08T07:50:00.4730000Z</dcterms:modified>
</coreProperties>
</file>